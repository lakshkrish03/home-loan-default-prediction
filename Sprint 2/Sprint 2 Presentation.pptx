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FB3E3C-F499-4127-AF73-0D19B9E0E661}" v="154" dt="2024-07-27T14:10:17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Krishnan" userId="7ce111160f810344" providerId="LiveId" clId="{6EFB3E3C-F499-4127-AF73-0D19B9E0E661}"/>
    <pc:docChg chg="undo custSel addSld delSld modSld">
      <pc:chgData name="Lakshmi Krishnan" userId="7ce111160f810344" providerId="LiveId" clId="{6EFB3E3C-F499-4127-AF73-0D19B9E0E661}" dt="2024-07-27T15:34:58.110" v="364" actId="5793"/>
      <pc:docMkLst>
        <pc:docMk/>
      </pc:docMkLst>
      <pc:sldChg chg="modSp">
        <pc:chgData name="Lakshmi Krishnan" userId="7ce111160f810344" providerId="LiveId" clId="{6EFB3E3C-F499-4127-AF73-0D19B9E0E661}" dt="2024-07-27T10:50:09.673" v="225"/>
        <pc:sldMkLst>
          <pc:docMk/>
          <pc:sldMk cId="2472442558" sldId="256"/>
        </pc:sldMkLst>
        <pc:spChg chg="mod">
          <ac:chgData name="Lakshmi Krishnan" userId="7ce111160f810344" providerId="LiveId" clId="{6EFB3E3C-F499-4127-AF73-0D19B9E0E661}" dt="2024-07-27T10:50:09.673" v="225"/>
          <ac:spMkLst>
            <pc:docMk/>
            <pc:sldMk cId="2472442558" sldId="256"/>
            <ac:spMk id="2" creationId="{1FAA4261-BA72-414C-CBF5-9D96C1E8E88B}"/>
          </ac:spMkLst>
        </pc:spChg>
        <pc:spChg chg="mod">
          <ac:chgData name="Lakshmi Krishnan" userId="7ce111160f810344" providerId="LiveId" clId="{6EFB3E3C-F499-4127-AF73-0D19B9E0E661}" dt="2024-07-27T10:50:09.673" v="225"/>
          <ac:spMkLst>
            <pc:docMk/>
            <pc:sldMk cId="2472442558" sldId="256"/>
            <ac:spMk id="3" creationId="{B5D13EBB-4DB9-C751-EEF4-07524602C6FF}"/>
          </ac:spMkLst>
        </pc:spChg>
      </pc:sldChg>
      <pc:sldChg chg="modSp mod">
        <pc:chgData name="Lakshmi Krishnan" userId="7ce111160f810344" providerId="LiveId" clId="{6EFB3E3C-F499-4127-AF73-0D19B9E0E661}" dt="2024-07-27T10:50:09.737" v="228" actId="27636"/>
        <pc:sldMkLst>
          <pc:docMk/>
          <pc:sldMk cId="1288469419" sldId="257"/>
        </pc:sldMkLst>
        <pc:spChg chg="mod">
          <ac:chgData name="Lakshmi Krishnan" userId="7ce111160f810344" providerId="LiveId" clId="{6EFB3E3C-F499-4127-AF73-0D19B9E0E661}" dt="2024-07-27T10:50:09.673" v="225"/>
          <ac:spMkLst>
            <pc:docMk/>
            <pc:sldMk cId="1288469419" sldId="257"/>
            <ac:spMk id="2" creationId="{4A3A7649-F350-DB41-3CDB-22D9DB9C7626}"/>
          </ac:spMkLst>
        </pc:spChg>
        <pc:spChg chg="mod">
          <ac:chgData name="Lakshmi Krishnan" userId="7ce111160f810344" providerId="LiveId" clId="{6EFB3E3C-F499-4127-AF73-0D19B9E0E661}" dt="2024-07-27T10:50:09.737" v="228" actId="27636"/>
          <ac:spMkLst>
            <pc:docMk/>
            <pc:sldMk cId="1288469419" sldId="257"/>
            <ac:spMk id="3" creationId="{8AC33CA7-B87A-861B-7C5F-D2A518725023}"/>
          </ac:spMkLst>
        </pc:spChg>
      </pc:sldChg>
      <pc:sldChg chg="modSp mod">
        <pc:chgData name="Lakshmi Krishnan" userId="7ce111160f810344" providerId="LiveId" clId="{6EFB3E3C-F499-4127-AF73-0D19B9E0E661}" dt="2024-07-27T14:10:25.569" v="289" actId="1076"/>
        <pc:sldMkLst>
          <pc:docMk/>
          <pc:sldMk cId="2850191441" sldId="258"/>
        </pc:sldMkLst>
        <pc:spChg chg="mod">
          <ac:chgData name="Lakshmi Krishnan" userId="7ce111160f810344" providerId="LiveId" clId="{6EFB3E3C-F499-4127-AF73-0D19B9E0E661}" dt="2024-07-27T14:10:21.327" v="288" actId="1076"/>
          <ac:spMkLst>
            <pc:docMk/>
            <pc:sldMk cId="2850191441" sldId="258"/>
            <ac:spMk id="2" creationId="{DE707D55-6A7F-2E63-FB82-CDEC779BA355}"/>
          </ac:spMkLst>
        </pc:spChg>
        <pc:spChg chg="mod">
          <ac:chgData name="Lakshmi Krishnan" userId="7ce111160f810344" providerId="LiveId" clId="{6EFB3E3C-F499-4127-AF73-0D19B9E0E661}" dt="2024-07-27T14:10:25.569" v="289" actId="1076"/>
          <ac:spMkLst>
            <pc:docMk/>
            <pc:sldMk cId="2850191441" sldId="258"/>
            <ac:spMk id="4" creationId="{7894F82C-C3A4-A800-DD1F-0BE7289AC9DE}"/>
          </ac:spMkLst>
        </pc:spChg>
        <pc:picChg chg="mod">
          <ac:chgData name="Lakshmi Krishnan" userId="7ce111160f810344" providerId="LiveId" clId="{6EFB3E3C-F499-4127-AF73-0D19B9E0E661}" dt="2024-07-27T14:10:17.149" v="287" actId="1076"/>
          <ac:picMkLst>
            <pc:docMk/>
            <pc:sldMk cId="2850191441" sldId="258"/>
            <ac:picMk id="1036" creationId="{3DC2E380-F56F-58B7-3160-C54BBBC5242A}"/>
          </ac:picMkLst>
        </pc:picChg>
      </pc:sldChg>
      <pc:sldChg chg="modSp mod">
        <pc:chgData name="Lakshmi Krishnan" userId="7ce111160f810344" providerId="LiveId" clId="{6EFB3E3C-F499-4127-AF73-0D19B9E0E661}" dt="2024-07-27T15:33:26.681" v="348" actId="20577"/>
        <pc:sldMkLst>
          <pc:docMk/>
          <pc:sldMk cId="3371970427" sldId="259"/>
        </pc:sldMkLst>
        <pc:spChg chg="mod">
          <ac:chgData name="Lakshmi Krishnan" userId="7ce111160f810344" providerId="LiveId" clId="{6EFB3E3C-F499-4127-AF73-0D19B9E0E661}" dt="2024-07-27T10:50:09.673" v="225"/>
          <ac:spMkLst>
            <pc:docMk/>
            <pc:sldMk cId="3371970427" sldId="259"/>
            <ac:spMk id="2" creationId="{67E32248-2ECB-C01F-FAA1-CDBB69C4FCDC}"/>
          </ac:spMkLst>
        </pc:spChg>
        <pc:spChg chg="mod">
          <ac:chgData name="Lakshmi Krishnan" userId="7ce111160f810344" providerId="LiveId" clId="{6EFB3E3C-F499-4127-AF73-0D19B9E0E661}" dt="2024-07-27T15:33:26.681" v="348" actId="20577"/>
          <ac:spMkLst>
            <pc:docMk/>
            <pc:sldMk cId="3371970427" sldId="259"/>
            <ac:spMk id="4" creationId="{038AFB77-9D79-B242-1453-F0CF0153F4DB}"/>
          </ac:spMkLst>
        </pc:spChg>
        <pc:picChg chg="mod">
          <ac:chgData name="Lakshmi Krishnan" userId="7ce111160f810344" providerId="LiveId" clId="{6EFB3E3C-F499-4127-AF73-0D19B9E0E661}" dt="2024-07-27T10:51:51.918" v="242" actId="14100"/>
          <ac:picMkLst>
            <pc:docMk/>
            <pc:sldMk cId="3371970427" sldId="259"/>
            <ac:picMk id="2052" creationId="{9C1966BA-67CD-42A6-6377-837A4CEF95B2}"/>
          </ac:picMkLst>
        </pc:picChg>
      </pc:sldChg>
      <pc:sldChg chg="modSp mod">
        <pc:chgData name="Lakshmi Krishnan" userId="7ce111160f810344" providerId="LiveId" clId="{6EFB3E3C-F499-4127-AF73-0D19B9E0E661}" dt="2024-07-27T15:11:33.844" v="339" actId="20577"/>
        <pc:sldMkLst>
          <pc:docMk/>
          <pc:sldMk cId="3111104521" sldId="260"/>
        </pc:sldMkLst>
        <pc:spChg chg="mod">
          <ac:chgData name="Lakshmi Krishnan" userId="7ce111160f810344" providerId="LiveId" clId="{6EFB3E3C-F499-4127-AF73-0D19B9E0E661}" dt="2024-07-27T02:28:25.911" v="143" actId="1076"/>
          <ac:spMkLst>
            <pc:docMk/>
            <pc:sldMk cId="3111104521" sldId="260"/>
            <ac:spMk id="2" creationId="{C1CA5AB8-AFB6-B371-289B-7F37EDCAF02A}"/>
          </ac:spMkLst>
        </pc:spChg>
        <pc:spChg chg="mod">
          <ac:chgData name="Lakshmi Krishnan" userId="7ce111160f810344" providerId="LiveId" clId="{6EFB3E3C-F499-4127-AF73-0D19B9E0E661}" dt="2024-07-27T15:11:33.844" v="339" actId="20577"/>
          <ac:spMkLst>
            <pc:docMk/>
            <pc:sldMk cId="3111104521" sldId="260"/>
            <ac:spMk id="4" creationId="{772385F1-40A1-8A68-D9C8-B7B022ECAF8F}"/>
          </ac:spMkLst>
        </pc:spChg>
        <pc:picChg chg="mod">
          <ac:chgData name="Lakshmi Krishnan" userId="7ce111160f810344" providerId="LiveId" clId="{6EFB3E3C-F499-4127-AF73-0D19B9E0E661}" dt="2024-07-27T10:54:46.487" v="258" actId="14100"/>
          <ac:picMkLst>
            <pc:docMk/>
            <pc:sldMk cId="3111104521" sldId="260"/>
            <ac:picMk id="3074" creationId="{F5154C5F-8832-B880-7A03-BB0205834E81}"/>
          </ac:picMkLst>
        </pc:picChg>
        <pc:picChg chg="mod">
          <ac:chgData name="Lakshmi Krishnan" userId="7ce111160f810344" providerId="LiveId" clId="{6EFB3E3C-F499-4127-AF73-0D19B9E0E661}" dt="2024-07-27T10:54:35.820" v="255" actId="14100"/>
          <ac:picMkLst>
            <pc:docMk/>
            <pc:sldMk cId="3111104521" sldId="260"/>
            <ac:picMk id="3076" creationId="{694641A7-3124-106A-4834-BD38F598FEB2}"/>
          </ac:picMkLst>
        </pc:picChg>
      </pc:sldChg>
      <pc:sldChg chg="modSp mod">
        <pc:chgData name="Lakshmi Krishnan" userId="7ce111160f810344" providerId="LiveId" clId="{6EFB3E3C-F499-4127-AF73-0D19B9E0E661}" dt="2024-07-27T15:34:58.110" v="364" actId="5793"/>
        <pc:sldMkLst>
          <pc:docMk/>
          <pc:sldMk cId="2101558666" sldId="262"/>
        </pc:sldMkLst>
        <pc:spChg chg="mod">
          <ac:chgData name="Lakshmi Krishnan" userId="7ce111160f810344" providerId="LiveId" clId="{6EFB3E3C-F499-4127-AF73-0D19B9E0E661}" dt="2024-07-27T10:55:08.226" v="261" actId="1076"/>
          <ac:spMkLst>
            <pc:docMk/>
            <pc:sldMk cId="2101558666" sldId="262"/>
            <ac:spMk id="2" creationId="{56890FB0-65BF-1A2E-0A06-1F2DA24E60D2}"/>
          </ac:spMkLst>
        </pc:spChg>
        <pc:spChg chg="mod">
          <ac:chgData name="Lakshmi Krishnan" userId="7ce111160f810344" providerId="LiveId" clId="{6EFB3E3C-F499-4127-AF73-0D19B9E0E661}" dt="2024-07-27T15:34:58.110" v="364" actId="5793"/>
          <ac:spMkLst>
            <pc:docMk/>
            <pc:sldMk cId="2101558666" sldId="262"/>
            <ac:spMk id="4" creationId="{61A6BB85-6F5F-C24D-DC13-E912F2C96814}"/>
          </ac:spMkLst>
        </pc:spChg>
        <pc:picChg chg="mod">
          <ac:chgData name="Lakshmi Krishnan" userId="7ce111160f810344" providerId="LiveId" clId="{6EFB3E3C-F499-4127-AF73-0D19B9E0E661}" dt="2024-07-27T15:00:46.936" v="293" actId="14100"/>
          <ac:picMkLst>
            <pc:docMk/>
            <pc:sldMk cId="2101558666" sldId="262"/>
            <ac:picMk id="5" creationId="{AB4D838A-3892-5AB8-D44E-FAE661FA4703}"/>
          </ac:picMkLst>
        </pc:picChg>
      </pc:sldChg>
      <pc:sldChg chg="modSp new mod">
        <pc:chgData name="Lakshmi Krishnan" userId="7ce111160f810344" providerId="LiveId" clId="{6EFB3E3C-F499-4127-AF73-0D19B9E0E661}" dt="2024-07-27T15:11:05.715" v="313" actId="122"/>
        <pc:sldMkLst>
          <pc:docMk/>
          <pc:sldMk cId="1371875091" sldId="263"/>
        </pc:sldMkLst>
        <pc:spChg chg="mod">
          <ac:chgData name="Lakshmi Krishnan" userId="7ce111160f810344" providerId="LiveId" clId="{6EFB3E3C-F499-4127-AF73-0D19B9E0E661}" dt="2024-07-27T15:11:05.715" v="313" actId="122"/>
          <ac:spMkLst>
            <pc:docMk/>
            <pc:sldMk cId="1371875091" sldId="263"/>
            <ac:spMk id="2" creationId="{D8C12BE5-81A1-CE12-A985-CB0C8E7CA59E}"/>
          </ac:spMkLst>
        </pc:spChg>
      </pc:sldChg>
      <pc:sldChg chg="new del">
        <pc:chgData name="Lakshmi Krishnan" userId="7ce111160f810344" providerId="LiveId" clId="{6EFB3E3C-F499-4127-AF73-0D19B9E0E661}" dt="2024-07-27T15:10:29.931" v="295" actId="2696"/>
        <pc:sldMkLst>
          <pc:docMk/>
          <pc:sldMk cId="2944460912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7587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721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937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353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586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311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82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486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823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270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9888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8430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4359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9839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2078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3947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1EA23-D6B0-4FD0-A19F-ABC7F1B89386}" type="datetimeFigureOut">
              <a:rPr lang="en-CA" smtClean="0"/>
              <a:t>2024-07-27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526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A4261-BA72-414C-CBF5-9D96C1E8E8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Home Loan default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13EBB-4DB9-C751-EEF4-07524602C6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Sprint 2</a:t>
            </a:r>
          </a:p>
        </p:txBody>
      </p:sp>
    </p:spTree>
    <p:extLst>
      <p:ext uri="{BB962C8B-B14F-4D97-AF65-F5344CB8AC3E}">
        <p14:creationId xmlns:p14="http://schemas.microsoft.com/office/powerpoint/2010/main" val="2472442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7649-F350-DB41-3CDB-22D9DB9C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33CA7-B87A-861B-7C5F-D2A518725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66850"/>
            <a:ext cx="8915400" cy="44443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How might we</a:t>
            </a:r>
            <a:r>
              <a:rPr lang="en-US" dirty="0"/>
              <a:t> use machine learning to predict home loan defaults </a:t>
            </a:r>
            <a:r>
              <a:rPr lang="en-US" b="1" dirty="0"/>
              <a:t>such that we can</a:t>
            </a:r>
            <a:r>
              <a:rPr lang="en-US" dirty="0"/>
              <a:t> reduce financial losses and improve loan management?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000" b="1" dirty="0"/>
              <a:t>Proposed Solution: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    Develop machine learning models to predict home loan defaults. </a:t>
            </a:r>
          </a:p>
          <a:p>
            <a:pPr marL="0" indent="0">
              <a:buNone/>
            </a:pPr>
            <a:r>
              <a:rPr lang="en-US" sz="2000" dirty="0"/>
              <a:t>    Use advanced techniques to improve model accuracy and reliability.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Potential Impact: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    Reduced financial losses for lenders. </a:t>
            </a:r>
          </a:p>
          <a:p>
            <a:pPr marL="0" indent="0">
              <a:buNone/>
            </a:pPr>
            <a:r>
              <a:rPr lang="en-US" sz="2000" dirty="0"/>
              <a:t>    Better loan management and decision-making processes.       </a:t>
            </a:r>
          </a:p>
          <a:p>
            <a:pPr marL="0" indent="0">
              <a:buNone/>
            </a:pPr>
            <a:r>
              <a:rPr lang="en-US" sz="2000" dirty="0"/>
              <a:t>    Improved financial stability and customer satisfaction.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88469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7D55-6A7F-2E63-FB82-CDEC779B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490" y="3880010"/>
            <a:ext cx="10113264" cy="822960"/>
          </a:xfrm>
        </p:spPr>
        <p:txBody>
          <a:bodyPr/>
          <a:lstStyle/>
          <a:p>
            <a:pPr algn="ctr"/>
            <a:r>
              <a:rPr lang="en-CA" dirty="0"/>
              <a:t>Dataset and Preprocessing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3DC2E380-F56F-58B7-3160-C54BBBC5242A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49" b="-2049"/>
          <a:stretch/>
        </p:blipFill>
        <p:spPr bwMode="auto">
          <a:xfrm>
            <a:off x="1191490" y="-121919"/>
            <a:ext cx="961505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4F82C-C3A4-A800-DD1F-0BE7289AC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89748" y="4702970"/>
            <a:ext cx="10923588" cy="1902142"/>
          </a:xfrm>
        </p:spPr>
        <p:txBody>
          <a:bodyPr>
            <a:normAutofit fontScale="2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7200" dirty="0"/>
              <a:t>Dataset Shape: (184506, 122) 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7200" dirty="0"/>
              <a:t>Deleted more than 20% of 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7200" dirty="0"/>
              <a:t>The total number of rows dropped is 64306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7200" dirty="0"/>
              <a:t>The percentage of rows dropped is 34.85%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7200" dirty="0"/>
              <a:t>Backward Filling method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7200" dirty="0"/>
              <a:t>Forward Filling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7200" dirty="0"/>
          </a:p>
        </p:txBody>
      </p:sp>
    </p:spTree>
    <p:extLst>
      <p:ext uri="{BB962C8B-B14F-4D97-AF65-F5344CB8AC3E}">
        <p14:creationId xmlns:p14="http://schemas.microsoft.com/office/powerpoint/2010/main" val="2850191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32248-2ECB-C01F-FAA1-CDBB69C4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Key Findings from EDA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C1966BA-67CD-42A6-6377-837A4CEF95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3013" y="1627993"/>
            <a:ext cx="5764212" cy="423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AFB77-9D79-B242-1453-F0CF0153F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7388" y="1598613"/>
            <a:ext cx="5407024" cy="4262436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Imbalanced Dataset – Target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0    91.314867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1     8.685133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Severe Negative correlations with Gender and Own car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Severe Positive correlations with price of home and amount of loan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Over 10 variables with P-values over 0.05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10 </a:t>
            </a:r>
            <a:r>
              <a:rPr lang="en-CA" sz="1800" dirty="0"/>
              <a:t>Object</a:t>
            </a:r>
            <a:r>
              <a:rPr lang="en-CA" sz="1600" dirty="0"/>
              <a:t> variables were converted to numerical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Severe Multicollinearity issues – 15 variables with inf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Final Dataset Shape: (151158, 71)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71970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A5AB8-AFB6-B371-289B-7F37EDCA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782" y="-6501"/>
            <a:ext cx="9720072" cy="1499616"/>
          </a:xfrm>
        </p:spPr>
        <p:txBody>
          <a:bodyPr/>
          <a:lstStyle/>
          <a:p>
            <a:pPr algn="ctr"/>
            <a:r>
              <a:rPr lang="en-CA" dirty="0"/>
              <a:t>Baseline Models and Evaluation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5154C5F-8832-B880-7A03-BB0205834E8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46833" y="743307"/>
            <a:ext cx="5915891" cy="288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385F1-40A1-8A68-D9C8-B7B022ECA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2636" y="838201"/>
            <a:ext cx="5181600" cy="5654674"/>
          </a:xfrm>
        </p:spPr>
        <p:txBody>
          <a:bodyPr>
            <a:normAutofit/>
          </a:bodyPr>
          <a:lstStyle/>
          <a:p>
            <a:r>
              <a:rPr lang="en-US" sz="1600" b="1" dirty="0"/>
              <a:t>Models Evaluated(With SMOTE </a:t>
            </a:r>
            <a:r>
              <a:rPr lang="en-US" sz="1600" b="1"/>
              <a:t>and without):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Logistic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Decision Tree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Random Forest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XGBoost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SVM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Gradient Boosting</a:t>
            </a:r>
          </a:p>
          <a:p>
            <a:r>
              <a:rPr lang="en-US" sz="1600" b="1" dirty="0"/>
              <a:t>Evaluation Metrics: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F1 Score</a:t>
            </a:r>
          </a:p>
          <a:p>
            <a:pPr marL="0" indent="0">
              <a:buNone/>
            </a:pPr>
            <a:r>
              <a:rPr lang="en-US" sz="1600" dirty="0"/>
              <a:t>Best out of the 6 models were SVM and XGBoost with similar Recall and Precision</a:t>
            </a:r>
            <a:endParaRPr lang="en-US" dirty="0"/>
          </a:p>
          <a:p>
            <a:endParaRPr lang="en-CA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94641A7-3124-106A-4834-BD38F598F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65" y="3780344"/>
            <a:ext cx="6269287" cy="299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104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0FB0-65BF-1A2E-0A06-1F2DA24E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081"/>
            <a:ext cx="10515600" cy="854075"/>
          </a:xfrm>
        </p:spPr>
        <p:txBody>
          <a:bodyPr/>
          <a:lstStyle/>
          <a:p>
            <a:r>
              <a:rPr lang="en-US" dirty="0"/>
              <a:t>Advanced Modeling and Future Work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4D838A-3892-5AB8-D44E-FAE661FA47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2425" y="1477486"/>
            <a:ext cx="6847847" cy="520906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6BB85-6F5F-C24D-DC13-E912F2C96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00272" y="1954772"/>
            <a:ext cx="4313864" cy="3777622"/>
          </a:xfrm>
        </p:spPr>
        <p:txBody>
          <a:bodyPr>
            <a:normAutofit fontScale="40000" lnSpcReduction="2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Hyperparameter tuning using GridSearchCV or </a:t>
            </a:r>
            <a:r>
              <a:rPr kumimoji="0" lang="en-US" altLang="en-US" sz="3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RandomizedSearchCV</a:t>
            </a:r>
            <a:r>
              <a:rPr kumimoji="0" lang="en-US" altLang="en-US" sz="3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</a:t>
            </a:r>
            <a:r>
              <a:rPr lang="en-CA" sz="4000" dirty="0"/>
              <a:t>Principal Component Analysis (PCA)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Implementing ensemble methods like stacking.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Stratified k-fold cross-validation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feature importance scores from models like Random Forests or XGBoost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Evaluate the Receiver Operating Characteristic (ROC) curve and Area Under the Curve (AUC)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   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01558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12BE5-81A1-CE12-A985-CB0C8E7C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604" y="2699798"/>
            <a:ext cx="8911687" cy="1280890"/>
          </a:xfrm>
        </p:spPr>
        <p:txBody>
          <a:bodyPr/>
          <a:lstStyle/>
          <a:p>
            <a:pPr algn="ctr"/>
            <a:r>
              <a:rPr lang="en-CA" dirty="0"/>
              <a:t>Thank you </a:t>
            </a:r>
            <a:r>
              <a:rPr lang="en-CA" dirty="0">
                <a:sym typeface="Wingdings" panose="05000000000000000000" pitchFamily="2" charset="2"/>
              </a:rPr>
              <a:t>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718750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132</TotalTime>
  <Words>293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Wisp</vt:lpstr>
      <vt:lpstr>Home Loan default Prediction</vt:lpstr>
      <vt:lpstr>Problem Statement</vt:lpstr>
      <vt:lpstr>Dataset and Preprocessing</vt:lpstr>
      <vt:lpstr>Key Findings from EDA</vt:lpstr>
      <vt:lpstr>Baseline Models and Evaluation</vt:lpstr>
      <vt:lpstr>Advanced Modeling and Future Work</vt:lpstr>
      <vt:lpstr>Thank 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Krishnan</dc:creator>
  <cp:lastModifiedBy>Lakshmi Krishnan</cp:lastModifiedBy>
  <cp:revision>1</cp:revision>
  <dcterms:created xsi:type="dcterms:W3CDTF">2024-07-27T01:37:01Z</dcterms:created>
  <dcterms:modified xsi:type="dcterms:W3CDTF">2024-07-27T15:35:01Z</dcterms:modified>
</cp:coreProperties>
</file>